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3.png"/><Relationship Id="rId10" Type="http://schemas.openxmlformats.org/officeDocument/2006/relationships/image" Target="../media/image-9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577" y="192204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CrimeAnalysis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523577" y="2586410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 Crime Analytics — 12 years of NCRB IPC crime data, end-to-end pipeline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23577" y="2994050"/>
            <a:ext cx="2718867" cy="227335"/>
          </a:xfrm>
          <a:prstGeom prst="roundRect">
            <a:avLst>
              <a:gd name="adj" fmla="val 22113"/>
            </a:avLst>
          </a:prstGeom>
          <a:solidFill>
            <a:srgbClr val="F4D4F7"/>
          </a:solidFill>
          <a:ln/>
        </p:spPr>
      </p:sp>
      <p:sp>
        <p:nvSpPr>
          <p:cNvPr id="7" name="Text 3"/>
          <p:cNvSpPr/>
          <p:nvPr/>
        </p:nvSpPr>
        <p:spPr>
          <a:xfrm>
            <a:off x="613321" y="3038921"/>
            <a:ext cx="299658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→ PANDAS → POWER QUERY → DAX → 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25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2655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12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407221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Years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716932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2001–2012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4860" y="172655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35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284860" y="2407221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States / UTs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46143" y="172655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806</a:t>
            </a:r>
            <a:endParaRPr lang="en-US" sz="3850" dirty="0"/>
          </a:p>
        </p:txBody>
      </p:sp>
      <p:sp>
        <p:nvSpPr>
          <p:cNvPr id="9" name="Text 7"/>
          <p:cNvSpPr/>
          <p:nvPr/>
        </p:nvSpPr>
        <p:spPr>
          <a:xfrm>
            <a:off x="6046143" y="2407221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Districts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904181" y="333032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29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1904181" y="4010992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5464" y="333032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23.9M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4665464" y="4010992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 Cases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871"/>
            <a:ext cx="8096845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Analytics Pipeline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872505"/>
            <a:ext cx="502593" cy="603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3663" y="972964"/>
            <a:ext cx="752675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MySQL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3663" y="1161231"/>
            <a:ext cx="752675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 data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1475631"/>
            <a:ext cx="502593" cy="6031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3663" y="1576090"/>
            <a:ext cx="752675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Python / pandas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93663" y="1764357"/>
            <a:ext cx="752675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Validation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078757"/>
            <a:ext cx="502593" cy="6031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3663" y="2179216"/>
            <a:ext cx="752675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Query (M)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093663" y="2367483"/>
            <a:ext cx="752675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ETL / reshape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2681883"/>
            <a:ext cx="502593" cy="6031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3663" y="2782342"/>
            <a:ext cx="752675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093663" y="2970609"/>
            <a:ext cx="752675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model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3285009"/>
            <a:ext cx="502593" cy="6031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3663" y="3385468"/>
            <a:ext cx="752675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DAX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93663" y="3573735"/>
            <a:ext cx="752675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Measures</a:t>
            </a:r>
            <a:endParaRPr lang="en-US" sz="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77" y="3888135"/>
            <a:ext cx="502593" cy="6031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93663" y="3988594"/>
            <a:ext cx="752675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093663" y="4176861"/>
            <a:ext cx="752675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</a:t>
            </a:r>
            <a:endParaRPr lang="en-US" sz="750" dirty="0"/>
          </a:p>
        </p:txBody>
      </p:sp>
      <p:sp>
        <p:nvSpPr>
          <p:cNvPr id="21" name="Text 13"/>
          <p:cNvSpPr/>
          <p:nvPr/>
        </p:nvSpPr>
        <p:spPr>
          <a:xfrm>
            <a:off x="523577" y="4567238"/>
            <a:ext cx="855404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MySQL source — not a pre-cleaned CSV — demonstrating the full real-world analyst pipeline.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6651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Validation: Catching the 4M Gap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2270894"/>
            <a:ext cx="4667845" cy="1706017"/>
          </a:xfrm>
          <a:prstGeom prst="roundRect">
            <a:avLst>
              <a:gd name="adj" fmla="val 368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57340" y="2275656"/>
            <a:ext cx="2329160" cy="848246"/>
          </a:xfrm>
          <a:custGeom>
            <a:avLst/>
            <a:gdLst/>
            <a:ahLst/>
            <a:cxnLst/>
            <a:rect l="l" t="t" r="r" b="b"/>
            <a:pathLst>
              <a:path w="2329160" h="848246">
                <a:moveTo>
                  <a:pt x="52365" y="0"/>
                </a:moveTo>
                <a:lnTo>
                  <a:pt x="2329160" y="0"/>
                </a:lnTo>
                <a:lnTo>
                  <a:pt x="2329160" y="848246"/>
                </a:lnTo>
                <a:lnTo>
                  <a:pt x="0" y="848246"/>
                </a:lnTo>
                <a:lnTo>
                  <a:pt x="0" y="52365"/>
                </a:lnTo>
                <a:arcTo hR="52365" wR="52365" stAng="10800000" swAng="5400000"/>
                <a:close/>
              </a:path>
            </a:pathLst>
          </a:custGeom>
          <a:solidFill>
            <a:srgbClr val="F4D4F7"/>
          </a:solidFill>
          <a:ln/>
        </p:spPr>
      </p:sp>
      <p:sp>
        <p:nvSpPr>
          <p:cNvPr id="6" name="Text 3"/>
          <p:cNvSpPr/>
          <p:nvPr/>
        </p:nvSpPr>
        <p:spPr>
          <a:xfrm>
            <a:off x="4106912" y="2425229"/>
            <a:ext cx="20300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Raw Sum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06912" y="2734940"/>
            <a:ext cx="203001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28,037,178 cases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86500" y="2275656"/>
            <a:ext cx="2329160" cy="848246"/>
          </a:xfrm>
          <a:custGeom>
            <a:avLst/>
            <a:gdLst/>
            <a:ahLst/>
            <a:cxnLst/>
            <a:rect l="l" t="t" r="r" b="b"/>
            <a:pathLst>
              <a:path w="2329160" h="848246">
                <a:moveTo>
                  <a:pt x="0" y="0"/>
                </a:moveTo>
                <a:lnTo>
                  <a:pt x="2276796" y="0"/>
                </a:lnTo>
                <a:arcTo hR="52365" wR="52365" stAng="16200000" swAng="5400000"/>
                <a:lnTo>
                  <a:pt x="2329160" y="848246"/>
                </a:lnTo>
                <a:lnTo>
                  <a:pt x="0" y="848246"/>
                </a:lnTo>
                <a:lnTo>
                  <a:pt x="0" y="0"/>
                </a:lnTo>
                <a:close/>
              </a:path>
            </a:pathLst>
          </a:custGeom>
          <a:solidFill>
            <a:srgbClr val="F4D4F7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2275656"/>
            <a:ext cx="19050" cy="848246"/>
          </a:xfrm>
          <a:prstGeom prst="roundRect">
            <a:avLst>
              <a:gd name="adj" fmla="val 50000"/>
            </a:avLst>
          </a:prstGeom>
          <a:solidFill>
            <a:srgbClr val="DABADD"/>
          </a:solidFill>
          <a:ln/>
        </p:spPr>
      </p:sp>
      <p:sp>
        <p:nvSpPr>
          <p:cNvPr id="10" name="Text 7"/>
          <p:cNvSpPr/>
          <p:nvPr/>
        </p:nvSpPr>
        <p:spPr>
          <a:xfrm>
            <a:off x="6436072" y="2425229"/>
            <a:ext cx="20300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TOTAL_IPC_CRIMES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36072" y="2734940"/>
            <a:ext cx="203001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23,940,654 cases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57340" y="3123902"/>
            <a:ext cx="4658320" cy="848246"/>
          </a:xfrm>
          <a:custGeom>
            <a:avLst/>
            <a:gdLst/>
            <a:ahLst/>
            <a:cxnLst/>
            <a:rect l="l" t="t" r="r" b="b"/>
            <a:pathLst>
              <a:path w="4658320" h="848246">
                <a:moveTo>
                  <a:pt x="0" y="0"/>
                </a:moveTo>
                <a:lnTo>
                  <a:pt x="4658320" y="0"/>
                </a:lnTo>
                <a:lnTo>
                  <a:pt x="4658320" y="795881"/>
                </a:lnTo>
                <a:arcTo hR="52365" wR="52365" stAng="0" swAng="5400000"/>
                <a:lnTo>
                  <a:pt x="52365" y="848246"/>
                </a:lnTo>
                <a:arcTo hR="52365" wR="52365" stAng="5400000" swAng="5400000"/>
                <a:lnTo>
                  <a:pt x="0" y="0"/>
                </a:lnTo>
                <a:close/>
              </a:path>
            </a:pathLst>
          </a:custGeom>
          <a:solidFill>
            <a:srgbClr val="F4D4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957340" y="3123902"/>
            <a:ext cx="4658320" cy="19050"/>
          </a:xfrm>
          <a:prstGeom prst="roundRect">
            <a:avLst>
              <a:gd name="adj" fmla="val 50000"/>
            </a:avLst>
          </a:prstGeom>
          <a:solidFill>
            <a:srgbClr val="DABADD"/>
          </a:solidFill>
          <a:ln/>
        </p:spPr>
      </p:sp>
      <p:sp>
        <p:nvSpPr>
          <p:cNvPr id="14" name="Text 11"/>
          <p:cNvSpPr/>
          <p:nvPr/>
        </p:nvSpPr>
        <p:spPr>
          <a:xfrm>
            <a:off x="4106912" y="3273475"/>
            <a:ext cx="43591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06912" y="3583186"/>
            <a:ext cx="435917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sub-category columns double-counted inside parent categories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Modelling: Star Schema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196182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Fact_Crimes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343522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Grain: State–District–Year–Category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7994" y="2470621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Dim_Year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7994" y="2617961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2001–2012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7994" y="2745060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Dim_State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7994" y="2892400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35 distinct states / UTs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667994" y="3024188"/>
            <a:ext cx="3957191" cy="194370"/>
          </a:xfrm>
          <a:prstGeom prst="roundRect">
            <a:avLst>
              <a:gd name="adj" fmla="val 16164"/>
            </a:avLst>
          </a:prstGeom>
          <a:solidFill>
            <a:srgbClr val="F4D4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780" y="3081412"/>
            <a:ext cx="93464" cy="747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1030" y="3076501"/>
            <a:ext cx="4096569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CrimeGroups bucket 23 categories into 5 analytical groups: Violent, Property, Women, Kidnapping, Other.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411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Headline KPIs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58131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23.9M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038796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 Crimes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348508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2001–2012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5464" y="1358131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2.65%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4665464" y="2038796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YoY Change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5464" y="2348508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2011 → 2012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2961903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2.76%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523577" y="3642568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CAGR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3577" y="395228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2001–2012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5464" y="296190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spc="-7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8.33%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4665464" y="3642568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Violent Crime %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5464" y="395228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of total IPC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577" y="4359920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measures validated against independent pandas calculations — not just DAX output.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87276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Dashboard Design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851645"/>
            <a:ext cx="2259137" cy="109716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06912" y="2005980"/>
            <a:ext cx="19504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Page 1 — National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6912" y="2315691"/>
            <a:ext cx="195046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KPIs, trend line, category breakdown, state heat matrix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851645"/>
            <a:ext cx="2259137" cy="109716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5621" y="2005980"/>
            <a:ext cx="19504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Page 2 — State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5621" y="2315691"/>
            <a:ext cx="195046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 rank, district charts, State × CrimeGroup matrix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098378"/>
            <a:ext cx="4667845" cy="857771"/>
          </a:xfrm>
          <a:prstGeom prst="roundRect">
            <a:avLst>
              <a:gd name="adj" fmla="val 7326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06912" y="3252713"/>
            <a:ext cx="43591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Page 3 — District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06912" y="3562424"/>
            <a:ext cx="435917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District rank, funnel, gauge vs state average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709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Debugging Log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206326"/>
            <a:ext cx="8096845" cy="3470077"/>
          </a:xfrm>
          <a:prstGeom prst="roundRect">
            <a:avLst>
              <a:gd name="adj" fmla="val 18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641872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075036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508200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94136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374529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807693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4240857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7912" y="1305595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Issue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4108" y="1305595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Root Cause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34670" y="1305595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7912" y="1738759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inflated to 28M+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4108" y="1738759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sub-columns double-counted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34670" y="1738759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Excluded in Power Query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7912" y="2171923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YoY showing 929.5%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04108" y="2171923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Year filter context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34670" y="2171923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Explicit Latest/Prior-Year measures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7912" y="2605087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CAGR = 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4108" y="2605087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General Number format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34670" y="2605087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to Percentage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7912" y="3038252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 always 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04108" y="3038252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RANKX no single-value context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34670" y="3038252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HASONEVALUE + COUNTROWS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7912" y="3471416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District Rank = 190,864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104108" y="3471416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Ranked raw fact rows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34670" y="3471416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Ranked over VALUES(DISTRICT)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7912" y="3904580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Gauge no gap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04108" y="3904580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 avg filtered by district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34670" y="3904580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CALCULATE(..., ALL(DISTRICT))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7912" y="4337745"/>
            <a:ext cx="258425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 visuals disabled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04108" y="4337745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Tenant policy blocking Bing Maps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34670" y="4337745"/>
            <a:ext cx="298861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Replaced with Matrix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098" y="379214"/>
            <a:ext cx="3288804" cy="4385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577" y="427658"/>
            <a:ext cx="4667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52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Insights</a:t>
            </a:r>
            <a:endParaRPr lang="en-US" sz="25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037332"/>
            <a:ext cx="4667845" cy="82101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59023" y="1196578"/>
            <a:ext cx="42731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Property Crime Dominates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759023" y="1481733"/>
            <a:ext cx="427315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Largest, fastest-growing category — highest-leverage for policy focus</a:t>
            </a:r>
            <a:endParaRPr lang="en-US" sz="11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1989832"/>
            <a:ext cx="4667845" cy="8210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59023" y="2149078"/>
            <a:ext cx="42731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2.76% CAGR, Accelerating Post-2007</a:t>
            </a:r>
            <a:endParaRPr lang="en-US" sz="1250" dirty="0"/>
          </a:p>
        </p:txBody>
      </p:sp>
      <p:sp>
        <p:nvSpPr>
          <p:cNvPr id="10" name="Text 4"/>
          <p:cNvSpPr/>
          <p:nvPr/>
        </p:nvSpPr>
        <p:spPr>
          <a:xfrm>
            <a:off x="759023" y="2434233"/>
            <a:ext cx="427315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Steady national growth over 12 years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2942332"/>
            <a:ext cx="4667845" cy="82101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9023" y="3101578"/>
            <a:ext cx="42731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Madhya Pradesh Leads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759023" y="3386733"/>
            <a:ext cx="427315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2,413,770 cases — narrowly ahead of Maharashtra (2,273,436)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894832"/>
            <a:ext cx="4667845" cy="82101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9023" y="4054078"/>
            <a:ext cx="42731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Violent Crime: Only 8.33%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759023" y="4339233"/>
            <a:ext cx="427315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Bulk falls under property and "other" IPC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299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Skills Demonstrated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4221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00322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Engineering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SQL, Power Query (M), cleaning, schema design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44221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00322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Analysis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pandas profiling, aggregation, root-cause analysis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6143" y="1442219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003227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Modelling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 schema, DAX, CALCULATE/FILTER, ranking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090937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3577" y="3651945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Visualisation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3577" y="3961656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design, KPIs, conditional formatting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84860" y="3090937"/>
            <a:ext cx="374005" cy="3740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84860" y="3651945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Analytical Thinking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84860" y="3961656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Reconciling totals, debugging context bugs, defensible insights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2026-08-08T07:26:05Z</dcterms:created>
  <dcterms:modified xsi:type="dcterms:W3CDTF">2026-08-08T07:26:05Z</dcterms:modified>
</cp:coreProperties>
</file>